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68" r:id="rId3"/>
    <p:sldId id="271" r:id="rId4"/>
    <p:sldId id="275" r:id="rId5"/>
    <p:sldId id="276" r:id="rId6"/>
    <p:sldId id="277" r:id="rId7"/>
    <p:sldId id="269" r:id="rId8"/>
    <p:sldId id="261" r:id="rId9"/>
    <p:sldId id="274" r:id="rId10"/>
    <p:sldId id="265" r:id="rId11"/>
    <p:sldId id="264" r:id="rId12"/>
    <p:sldId id="263" r:id="rId13"/>
    <p:sldId id="270" r:id="rId14"/>
    <p:sldId id="267" r:id="rId15"/>
    <p:sldId id="272" r:id="rId16"/>
    <p:sldId id="27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6007-376E-BD58-7BEA-AA3B1B15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03C987B-9B20-9DF4-3300-6F2CB95FE860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CFE5520-65B1-63E4-A0C0-DC46D0EA7180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481AEC5-ED1C-AABB-832D-899C9DD2DE57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7B6B9E8-CAD0-4D35-2F13-E120C789BBCA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68DFA6-EF87-EE1D-AA5B-746DDE662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92" y="909332"/>
            <a:ext cx="8320011" cy="576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34B8CE5-7B28-2715-CDC2-5C00ACF40A6D}"/>
              </a:ext>
            </a:extLst>
          </p:cNvPr>
          <p:cNvSpPr txBox="1"/>
          <p:nvPr/>
        </p:nvSpPr>
        <p:spPr>
          <a:xfrm>
            <a:off x="3742157" y="540000"/>
            <a:ext cx="4707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Single Atom Hamiltonian ( Four-Level System )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3197D18-1342-A272-63EF-D4D0FFB08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710" y="2072990"/>
            <a:ext cx="3620572" cy="576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AF083BC-1066-2C28-D702-3D220D73CB8A}"/>
              </a:ext>
            </a:extLst>
          </p:cNvPr>
          <p:cNvSpPr txBox="1"/>
          <p:nvPr/>
        </p:nvSpPr>
        <p:spPr>
          <a:xfrm>
            <a:off x="3011124" y="1703658"/>
            <a:ext cx="616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Decay of Rydberg state </a:t>
            </a:r>
            <a:r>
              <a:rPr lang="en-US" altLang="zh-CN" dirty="0">
                <a:solidFill>
                  <a:srgbClr val="00B050"/>
                </a:solidFill>
              </a:rPr>
              <a:t>r</a:t>
            </a:r>
            <a:r>
              <a:rPr lang="en-US" altLang="zh-CN" dirty="0"/>
              <a:t> ( the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0,1,d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taken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stable )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35462E-6EC3-9DF0-1B12-667ECE390A5B}"/>
              </a:ext>
            </a:extLst>
          </p:cNvPr>
          <p:cNvSpPr txBox="1"/>
          <p:nvPr/>
        </p:nvSpPr>
        <p:spPr>
          <a:xfrm>
            <a:off x="4509561" y="2870375"/>
            <a:ext cx="3172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Coupling between two atoms</a:t>
            </a:r>
            <a:endParaRPr lang="zh-CN" altLang="en-US" dirty="0"/>
          </a:p>
        </p:txBody>
      </p:sp>
      <p:pic>
        <p:nvPicPr>
          <p:cNvPr id="14" name="图片 13" descr="图片包含 文本&#10;&#10;AI 生成的内容可能不正确。">
            <a:extLst>
              <a:ext uri="{FF2B5EF4-FFF2-40B4-BE49-F238E27FC236}">
                <a16:creationId xmlns:a16="http://schemas.microsoft.com/office/drawing/2014/main" id="{04E4D978-E630-3CF8-6951-190B5FDC4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997" y="3239707"/>
            <a:ext cx="1559998" cy="360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220D6AD-CCA8-4FB2-7061-2B7AEA5B5F5B}"/>
              </a:ext>
            </a:extLst>
          </p:cNvPr>
          <p:cNvSpPr txBox="1"/>
          <p:nvPr/>
        </p:nvSpPr>
        <p:spPr>
          <a:xfrm>
            <a:off x="3396000" y="0"/>
            <a:ext cx="540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Neutral Atom Qubit(s) Simulations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35F7B72-D3BB-E9E3-EBC4-348AF9CC41B6}"/>
                  </a:ext>
                </a:extLst>
              </p:cNvPr>
              <p:cNvSpPr txBox="1"/>
              <p:nvPr/>
            </p:nvSpPr>
            <p:spPr>
              <a:xfrm>
                <a:off x="731149" y="3777854"/>
                <a:ext cx="10729694" cy="2966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rgbClr val="00B0F0"/>
                    </a:solidFill>
                    <a:highlight>
                      <a:srgbClr val="FFFF00"/>
                    </a:highlight>
                  </a:rPr>
                  <a:t>Some Comments on the atomic parameters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1400" dirty="0"/>
                  <a:t>makes the transition between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possible, so it can be used to realize X gate.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1400" dirty="0"/>
                  <a:t>changes the energy level of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compared to that of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400" dirty="0"/>
                  <a:t>, this energy gap can lead to a phase difference between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when they evolves with time, so it can be used to realize Z gate.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By looking at the Hamiltonian structure, it can be found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play similar roles 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/>
                  <a:t>, the only difference is that Rydberg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replace the qubit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400" dirty="0"/>
                  <a:t>. These two parameters can be used to realize CZ gate, together with </a:t>
                </a:r>
                <a:r>
                  <a:rPr lang="en-US" altLang="zh-CN" sz="1400" dirty="0">
                    <a:solidFill>
                      <a:srgbClr val="00B050"/>
                    </a:solidFill>
                  </a:rPr>
                  <a:t>the Rydberg Blockade strength B. </a:t>
                </a:r>
                <a:endParaRPr lang="en-US" altLang="zh-C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00B050"/>
                    </a:solidFill>
                  </a:rPr>
                  <a:t>The Rydberg Blockade strength B </a:t>
                </a:r>
                <a:r>
                  <a:rPr lang="en-US" altLang="zh-CN" sz="1400" dirty="0"/>
                  <a:t>can be tuned by the distance between atoms. When B is high enough, the double excited Rydberg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rr</m:t>
                        </m:r>
                      </m:e>
                    </m:d>
                  </m:oMath>
                </a14:m>
                <a:r>
                  <a:rPr lang="en-US" altLang="zh-CN" sz="1400" dirty="0"/>
                  <a:t> is not likely to be occupied which is important in realizing CZ gate.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00B050"/>
                    </a:solidFill>
                  </a:rPr>
                  <a:t>The Lindblad parameters </a:t>
                </a:r>
                <a:r>
                  <a:rPr lang="en-US" altLang="zh-CN" sz="1400" dirty="0"/>
                  <a:t>describe the decay of Rydberg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to other stable states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altLang="zh-CN" sz="1400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represent other ground hyperfine states. For atom state Cs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107 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b>
                    </m:sSub>
                  </m:oMath>
                </a14:m>
                <a:r>
                  <a:rPr lang="en-US" altLang="zh-CN" sz="1400" dirty="0"/>
                  <a:t>, it has 16 ground hyperfine states with two of them are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400" dirty="0"/>
                  <a:t>. So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1400" dirty="0"/>
                  <a:t>. And the decay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is usually set to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540 </m:t>
                        </m:r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μs</m:t>
                        </m:r>
                      </m:den>
                    </m:f>
                  </m:oMath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35F7B72-D3BB-E9E3-EBC4-348AF9CC4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49" y="3777854"/>
                <a:ext cx="10729694" cy="2966325"/>
              </a:xfrm>
              <a:prstGeom prst="rect">
                <a:avLst/>
              </a:prstGeom>
              <a:blipFill>
                <a:blip r:embed="rId5"/>
                <a:stretch>
                  <a:fillRect l="-114" t="-1235" r="-2614" b="-2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684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C7F0E-C646-5D7E-A040-2FF5F088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E2CBF31-CACB-72E6-7BB8-779F2FFDCC9B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2865BA-E34D-8167-E3EA-5F6F21D4B4DF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EC3A56D-D6F3-410A-3C6E-6C9C1ACF6D43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903AF4D-0975-946A-910E-6D4DF8461C39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7B4408-69C2-220F-99B4-12AD6AAD94DF}"/>
              </a:ext>
            </a:extLst>
          </p:cNvPr>
          <p:cNvSpPr txBox="1"/>
          <p:nvPr/>
        </p:nvSpPr>
        <p:spPr>
          <a:xfrm>
            <a:off x="3666000" y="68063"/>
            <a:ext cx="486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X Gate Realization</a:t>
            </a:r>
            <a:endParaRPr lang="zh-CN" altLang="en-US" sz="2800" dirty="0"/>
          </a:p>
        </p:txBody>
      </p:sp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A9C32325-D930-F2CE-312D-161CB14D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081" y="2442695"/>
            <a:ext cx="4719833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0BCA774-D4C7-5225-54C3-CD0CA04A2514}"/>
                  </a:ext>
                </a:extLst>
              </p:cNvPr>
              <p:cNvSpPr txBox="1"/>
              <p:nvPr/>
            </p:nvSpPr>
            <p:spPr>
              <a:xfrm>
                <a:off x="1017636" y="1114503"/>
                <a:ext cx="10156724" cy="939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First look at the time-Independent Case : give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 constant value, it does not change with time ( from zero to infinity )</a:t>
                </a:r>
              </a:p>
              <a:p>
                <a:r>
                  <a:rPr lang="en-US" altLang="zh-CN" sz="1600" dirty="0"/>
                  <a:t>With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600" dirty="0"/>
                  <a:t> as initial state, it can be found that the populations of both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600" dirty="0"/>
                  <a:t> oscillate, and they follow the well-known Rabi oscillation formula, one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another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1600" dirty="0"/>
                  <a:t>, we make the transition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0BCA774-D4C7-5225-54C3-CD0CA04A2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36" y="1114503"/>
                <a:ext cx="10156724" cy="939553"/>
              </a:xfrm>
              <a:prstGeom prst="rect">
                <a:avLst/>
              </a:prstGeom>
              <a:blipFill>
                <a:blip r:embed="rId3"/>
                <a:stretch>
                  <a:fillRect l="-360" t="-13636" r="-3601" b="-55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431C70-F479-D33B-DA6D-9C41B4D7C117}"/>
                  </a:ext>
                </a:extLst>
              </p:cNvPr>
              <p:cNvSpPr txBox="1"/>
              <p:nvPr/>
            </p:nvSpPr>
            <p:spPr>
              <a:xfrm>
                <a:off x="963560" y="591283"/>
                <a:ext cx="102648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The idea of X gate is to utilize the Rabi Oscillations between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such that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altLang="zh-CN" sz="1600" dirty="0"/>
                  <a:t> can transition to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600" dirty="0"/>
                  <a:t> and vice versa.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431C70-F479-D33B-DA6D-9C41B4D7C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60" y="591283"/>
                <a:ext cx="10264878" cy="338554"/>
              </a:xfrm>
              <a:prstGeom prst="rect">
                <a:avLst/>
              </a:prstGeom>
              <a:blipFill>
                <a:blip r:embed="rId4"/>
                <a:stretch>
                  <a:fillRect l="-297" t="-108929" b="-16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86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DFF1-A103-FD0D-0299-C65F10FC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021A9EF-7BD0-41FB-C6B6-8FAF260E6BD3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7BCD563-9BFB-8D6F-4743-F26BF2CE402F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7C79130-6191-A401-6D04-4895143DAA9F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9E449E3-385E-0400-52B6-0A0B4643FA1D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9A6FB84A-187C-09D3-D86D-D6FC437AE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19" y="2841498"/>
            <a:ext cx="6398632" cy="27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2A4F2A-20F2-F8D7-AFC8-A84335D7B840}"/>
                  </a:ext>
                </a:extLst>
              </p:cNvPr>
              <p:cNvSpPr txBox="1"/>
              <p:nvPr/>
            </p:nvSpPr>
            <p:spPr>
              <a:xfrm>
                <a:off x="852455" y="119330"/>
                <a:ext cx="10487088" cy="157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To achieve a X gate, we should consider the time-dependent case : use Gaussian Pulse</a:t>
                </a:r>
              </a:p>
              <a:p>
                <a:r>
                  <a:rPr lang="en-US" altLang="zh-CN" sz="1600" dirty="0"/>
                  <a:t>and in order to make the transition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100%, it should satisfy the condition that the pulse area 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1600" dirty="0"/>
                  <a:t>, that is,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sz="1600" dirty="0"/>
              </a:p>
              <a:p>
                <a:pPr algn="ctr"/>
                <a:r>
                  <a:rPr lang="en-US" altLang="zh-CN" sz="1600" dirty="0"/>
                  <a:t>the other atomic parameters except Lindblad parameters are set to be zeros, which shut down all the channels that can affect the fidelity </a:t>
                </a:r>
                <a:r>
                  <a:rPr lang="en-US" altLang="zh-CN" sz="1600" dirty="0">
                    <a:solidFill>
                      <a:srgbClr val="00B0F0"/>
                    </a:solidFill>
                  </a:rPr>
                  <a:t>such as </a:t>
                </a:r>
                <a:r>
                  <a:rPr lang="en-US" altLang="zh-CN" sz="1600" dirty="0"/>
                  <a:t>detuning of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600" dirty="0"/>
                  <a:t>, 0-r Rabi Oscillations, excited to Rydberg state, and leakage.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22A4F2A-20F2-F8D7-AFC8-A84335D7B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55" y="119330"/>
                <a:ext cx="10487088" cy="1578317"/>
              </a:xfrm>
              <a:prstGeom prst="rect">
                <a:avLst/>
              </a:prstGeom>
              <a:blipFill>
                <a:blip r:embed="rId3"/>
                <a:stretch>
                  <a:fillRect l="-349" t="-8140" b="-36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F03336EE-0EBD-C0A4-DEE1-F739016D8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518" y="95734"/>
            <a:ext cx="2222614" cy="381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CC6C733-2FEB-4873-49A7-1DBE42EA5771}"/>
                  </a:ext>
                </a:extLst>
              </p:cNvPr>
              <p:cNvSpPr txBox="1"/>
              <p:nvPr/>
            </p:nvSpPr>
            <p:spPr>
              <a:xfrm>
                <a:off x="2588400" y="2060818"/>
                <a:ext cx="70151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First look at the transition between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&amp; the gate fidelity by changing the amplitude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while keep the half-width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fixed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CC6C733-2FEB-4873-49A7-1DBE42EA5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400" y="2060818"/>
                <a:ext cx="7015195" cy="584775"/>
              </a:xfrm>
              <a:prstGeom prst="rect">
                <a:avLst/>
              </a:prstGeom>
              <a:blipFill>
                <a:blip r:embed="rId5"/>
                <a:stretch>
                  <a:fillRect l="-522" t="-63542" b="-5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D3A656-A6F2-6532-F984-6ED4FA2ED662}"/>
                  </a:ext>
                </a:extLst>
              </p:cNvPr>
              <p:cNvSpPr txBox="1"/>
              <p:nvPr/>
            </p:nvSpPr>
            <p:spPr>
              <a:xfrm>
                <a:off x="1747968" y="6044369"/>
                <a:ext cx="95809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∼1.25</m:t>
                    </m:r>
                  </m:oMath>
                </a14:m>
                <a:r>
                  <a:rPr lang="en-US" altLang="zh-CN" sz="1400" dirty="0"/>
                  <a:t>, the transition is complete ( 100% ), and also the infidelity is lowest at this point, which meets our expectation.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D3A656-A6F2-6532-F984-6ED4FA2ED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968" y="6044369"/>
                <a:ext cx="9580965" cy="307777"/>
              </a:xfrm>
              <a:prstGeom prst="rect">
                <a:avLst/>
              </a:prstGeom>
              <a:blipFill>
                <a:blip r:embed="rId6"/>
                <a:stretch>
                  <a:fillRect l="-191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53AA1975-8856-7C03-AAA8-997D83395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044" y="2931498"/>
            <a:ext cx="4591561" cy="26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5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DE8-4EB0-A034-85D7-6E93FC4E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87B6DF1-0009-E4EC-A774-E652317F7B49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0628010-BDF6-4A72-D71E-62FF0CAE76E7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DAE4A2A-3482-DD54-F034-A94017B9E775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95021CF-40D2-0C4D-47AF-3DD188FB3FBD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B497CC-47FB-35B2-F1C1-EDE5800893E1}"/>
                  </a:ext>
                </a:extLst>
              </p:cNvPr>
              <p:cNvSpPr txBox="1"/>
              <p:nvPr/>
            </p:nvSpPr>
            <p:spPr>
              <a:xfrm>
                <a:off x="909800" y="146545"/>
                <a:ext cx="10372398" cy="17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X gate Fidelity Optimization </a:t>
                </a:r>
              </a:p>
              <a:p>
                <a:pPr algn="ctr"/>
                <a:r>
                  <a:rPr lang="en-US" altLang="zh-CN" sz="1400" dirty="0"/>
                  <a:t>Here we study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how to optimize the pulse parameters to achieve a high fidelity</a:t>
                </a:r>
                <a:r>
                  <a:rPr lang="en-US" altLang="zh-CN" sz="1400" dirty="0"/>
                  <a:t>.</a:t>
                </a:r>
              </a:p>
              <a:p>
                <a:pPr algn="ctr"/>
                <a:r>
                  <a:rPr lang="en-US" altLang="zh-CN" sz="1400" dirty="0"/>
                  <a:t>This X gate protocol is affected by two pulse parameters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CN" sz="1400" dirty="0"/>
                  <a:t> ), but they are not independent by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400" dirty="0"/>
                  <a:t>, so to perform meaningful optimization, we need to fix one of them and let another to vary. Here I fixed the amplitude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400" dirty="0"/>
                  <a:t> and optimize half-width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CN" sz="1400" dirty="0"/>
                  <a:t>. </a:t>
                </a:r>
              </a:p>
              <a:p>
                <a:pPr algn="ctr"/>
                <a:r>
                  <a:rPr lang="en-US" altLang="zh-CN" sz="1400" dirty="0"/>
                  <a:t>It shows that optimal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CN" sz="1400" dirty="0"/>
                  <a:t> indeed follow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5B497CC-47FB-35B2-F1C1-EDE58008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00" y="146545"/>
                <a:ext cx="10372398" cy="1769331"/>
              </a:xfrm>
              <a:prstGeom prst="rect">
                <a:avLst/>
              </a:prstGeom>
              <a:blipFill>
                <a:blip r:embed="rId2"/>
                <a:stretch>
                  <a:fillRect t="-2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8C81A34E-F74F-06EE-9632-CD09082D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458" y="2031455"/>
            <a:ext cx="611108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7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4F30-6A24-87CD-4C52-249718D4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3C8E8E5-AEC7-3939-133F-6DEA9CF527DA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99EDE9C-894F-8C45-4211-6C6BBB723815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F383909-6D53-F275-F896-B4603402E824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0F93580-0716-D9A8-7A28-F7B0E0CA0281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FA151B-820E-25C0-AA4F-B506C6783629}"/>
              </a:ext>
            </a:extLst>
          </p:cNvPr>
          <p:cNvSpPr txBox="1"/>
          <p:nvPr/>
        </p:nvSpPr>
        <p:spPr>
          <a:xfrm>
            <a:off x="3666000" y="68063"/>
            <a:ext cx="486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Z Gate Realization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418DD7-5FCE-D594-4415-63B7AF45795C}"/>
                  </a:ext>
                </a:extLst>
              </p:cNvPr>
              <p:cNvSpPr txBox="1"/>
              <p:nvPr/>
            </p:nvSpPr>
            <p:spPr>
              <a:xfrm>
                <a:off x="669105" y="591283"/>
                <a:ext cx="1085379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The idea of Z gate is to utilize the detuning parameter of the 0-1 laser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 which changes the energy difference between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600" dirty="0"/>
                  <a:t>. This energy difference leads to a phase difference between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when the system evolves with the time. </a:t>
                </a:r>
                <a:br>
                  <a:rPr lang="en-US" altLang="zh-CN" sz="1600" dirty="0"/>
                </a:br>
                <a:r>
                  <a:rPr lang="en-US" altLang="zh-CN" sz="1600" dirty="0"/>
                  <a:t>This phase difference can be calculated by </a:t>
                </a:r>
              </a:p>
              <a:p>
                <a:r>
                  <a:rPr lang="en-US" altLang="zh-CN" sz="1600" dirty="0">
                    <a:solidFill>
                      <a:srgbClr val="FF0000"/>
                    </a:solidFill>
                  </a:rPr>
                  <a:t>In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order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to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achieve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Z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gate,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we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should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require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this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lang="zh-CN" alt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to be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altLang="zh-CN" sz="1600" dirty="0">
                  <a:solidFill>
                    <a:srgbClr val="FF0000"/>
                  </a:solidFill>
                </a:endParaRPr>
              </a:p>
              <a:p>
                <a:r>
                  <a:rPr lang="en-US" altLang="zh-CN" sz="1600" dirty="0">
                    <a:solidFill>
                      <a:srgbClr val="00B0F0"/>
                    </a:solidFill>
                  </a:rPr>
                  <a:t>Similar to the X gate case</a:t>
                </a:r>
                <a:r>
                  <a:rPr lang="en-US" altLang="zh-CN" sz="1600" dirty="0"/>
                  <a:t>, the other atomic parameters except Lindblad parameters are set to be zeros, which shut down all the channels that can affect the fidelity </a:t>
                </a:r>
                <a:r>
                  <a:rPr lang="en-US" altLang="zh-CN" sz="1600" dirty="0">
                    <a:solidFill>
                      <a:srgbClr val="00B0F0"/>
                    </a:solidFill>
                  </a:rPr>
                  <a:t>such as </a:t>
                </a:r>
                <a:r>
                  <a:rPr lang="en-US" altLang="zh-CN" sz="1600" dirty="0"/>
                  <a:t>0-1 Rabi Oscillations, excited to Rydberg state, and leakage.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6418DD7-5FCE-D594-4415-63B7AF457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05" y="591283"/>
                <a:ext cx="10853790" cy="1569660"/>
              </a:xfrm>
              <a:prstGeom prst="rect">
                <a:avLst/>
              </a:prstGeom>
              <a:blipFill>
                <a:blip r:embed="rId2"/>
                <a:stretch>
                  <a:fillRect l="-955" t="-23735" b="-4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E638F155-41A3-5CAA-9323-0220EE350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680" y="1102016"/>
            <a:ext cx="1296001" cy="324000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1B6F0105-5FE9-3490-B69C-9E9C5C357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262" y="3289646"/>
            <a:ext cx="4433232" cy="25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B6D3213-AA2B-1003-8BA1-C7583A9B5B1F}"/>
                  </a:ext>
                </a:extLst>
              </p:cNvPr>
              <p:cNvSpPr txBox="1"/>
              <p:nvPr/>
            </p:nvSpPr>
            <p:spPr>
              <a:xfrm>
                <a:off x="669105" y="2309796"/>
                <a:ext cx="108537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First look at the transition between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&amp; the gate fidelity by changing the amplitude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while keep the detuning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fixed. The initial state is set to be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altLang="zh-CN" sz="1600" dirty="0"/>
                  <a:t>, so we can expect a transition between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as the pulse is turned on. A perfect Z gate should make the transition from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r>
                  <a:rPr lang="en-US" altLang="zh-CN" sz="1600" dirty="0"/>
                  <a:t>complete ( 100% ).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B6D3213-AA2B-1003-8BA1-C7583A9B5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05" y="2309796"/>
                <a:ext cx="10853790" cy="830997"/>
              </a:xfrm>
              <a:prstGeom prst="rect">
                <a:avLst/>
              </a:prstGeom>
              <a:blipFill>
                <a:blip r:embed="rId5"/>
                <a:stretch>
                  <a:fillRect l="-337" t="-44853" b="-69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 descr="图形用户界面, 图表, 折线图&#10;&#10;AI 生成的内容可能不正确。">
            <a:extLst>
              <a:ext uri="{FF2B5EF4-FFF2-40B4-BE49-F238E27FC236}">
                <a16:creationId xmlns:a16="http://schemas.microsoft.com/office/drawing/2014/main" id="{4C5814A5-32BF-42DF-D84C-99A436C55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0" y="3289646"/>
            <a:ext cx="7200000" cy="27169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3EB5F7-6EB7-3DF3-4F3E-E26A19479B4C}"/>
                  </a:ext>
                </a:extLst>
              </p:cNvPr>
              <p:cNvSpPr txBox="1"/>
              <p:nvPr/>
            </p:nvSpPr>
            <p:spPr>
              <a:xfrm>
                <a:off x="2224200" y="6155480"/>
                <a:ext cx="7743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∼1 / 3</m:t>
                    </m:r>
                  </m:oMath>
                </a14:m>
                <a:r>
                  <a:rPr lang="en-US" altLang="zh-CN" sz="1400" dirty="0"/>
                  <a:t> / 5, the transition from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to</a:t>
                </a:r>
                <a:r>
                  <a:rPr lang="zh-CN" altLang="en-US" sz="1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is nearly complete ( majority ), and the infidelity also shows that these special points has the lowest fidelity, which meets our expectation.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3EB5F7-6EB7-3DF3-4F3E-E26A19479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200" y="6155480"/>
                <a:ext cx="7743600" cy="523220"/>
              </a:xfrm>
              <a:prstGeom prst="rect">
                <a:avLst/>
              </a:prstGeom>
              <a:blipFill>
                <a:blip r:embed="rId7"/>
                <a:stretch>
                  <a:fillRect l="-236" t="-60465" r="-472" b="-5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34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01BB-5F8A-7339-DDF1-FE96F537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F0FE625-BCDF-B2B2-BF8C-25304803B63B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85FCFF9-2D52-47CA-ED57-FCBD958B4020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66449E-6EC5-D6F3-F0FE-1DF0D9B074EF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D01424F-7D04-9793-0C33-B71189EF44F9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8EB61F-1F8C-C7F9-559F-24222A70A528}"/>
                  </a:ext>
                </a:extLst>
              </p:cNvPr>
              <p:cNvSpPr txBox="1"/>
              <p:nvPr/>
            </p:nvSpPr>
            <p:spPr>
              <a:xfrm>
                <a:off x="649584" y="115860"/>
                <a:ext cx="10892829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Z gate Fidelity Optimization </a:t>
                </a:r>
              </a:p>
              <a:p>
                <a:pPr algn="ctr"/>
                <a:r>
                  <a:rPr lang="en-US" altLang="zh-CN" sz="1400" dirty="0"/>
                  <a:t>Here we study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how to optimize the pulse parameters to achieve a high fidelity</a:t>
                </a:r>
                <a:r>
                  <a:rPr lang="en-US" altLang="zh-CN" sz="1400" dirty="0"/>
                  <a:t>.</a:t>
                </a:r>
              </a:p>
              <a:p>
                <a:pPr algn="ctr"/>
                <a:r>
                  <a:rPr lang="en-US" altLang="zh-CN" sz="1400" dirty="0"/>
                  <a:t>This Z gate protocol is affected by two pulse parameters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detune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/>
                  <a:t> ), but they are not independent by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detune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1400" dirty="0"/>
                  <a:t>, so to perform meaningful optimization, we need to fix one of them and let another to vary. Here I fixed the amplitude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400" dirty="0"/>
                  <a:t> and optimize detuning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detune</m:t>
                        </m:r>
                      </m:sub>
                    </m:sSub>
                  </m:oMath>
                </a14:m>
                <a:r>
                  <a:rPr lang="en-US" altLang="zh-CN" sz="1400" dirty="0"/>
                  <a:t>. </a:t>
                </a:r>
              </a:p>
              <a:p>
                <a:pPr algn="ctr"/>
                <a:endParaRPr lang="en-US" altLang="zh-CN" sz="1400" dirty="0"/>
              </a:p>
              <a:p>
                <a:pPr algn="ctr"/>
                <a:r>
                  <a:rPr lang="en-US" altLang="zh-CN" sz="1400" dirty="0"/>
                  <a:t>It shows that optimal detuning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zh-CN" sz="1400" dirty="0"/>
                  <a:t> indeed follow the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detune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8EB61F-1F8C-C7F9-559F-24222A70A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84" y="115860"/>
                <a:ext cx="10892829" cy="1538883"/>
              </a:xfrm>
              <a:prstGeom prst="rect">
                <a:avLst/>
              </a:prstGeom>
              <a:blipFill>
                <a:blip r:embed="rId2"/>
                <a:stretch>
                  <a:fillRect l="-112" t="-3175" r="-616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730CE20A-0E35-6BCA-1B29-47F2A4C2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328" y="1881834"/>
            <a:ext cx="610333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6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AC1E-10C1-50BD-B884-E2497F6C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6D32509-7270-FB5F-F317-7398E191C5BA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08F0C07-8929-C1D1-EE23-012845B4304B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895E888-2F16-EE8B-DAE1-31907531AF28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5CB6DEE-9F0B-09CE-86B9-9B7E1F49EA2C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3EDA7E-02AE-8D72-217E-F8CC53B865FC}"/>
              </a:ext>
            </a:extLst>
          </p:cNvPr>
          <p:cNvSpPr txBox="1"/>
          <p:nvPr/>
        </p:nvSpPr>
        <p:spPr>
          <a:xfrm>
            <a:off x="3666000" y="68063"/>
            <a:ext cx="486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CZ Gate Realization with ARP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0EF4C8-8F61-92CF-9E8B-D527F83A869B}"/>
                  </a:ext>
                </a:extLst>
              </p:cNvPr>
              <p:cNvSpPr txBox="1"/>
              <p:nvPr/>
            </p:nvSpPr>
            <p:spPr>
              <a:xfrm>
                <a:off x="240898" y="2822870"/>
                <a:ext cx="10784996" cy="240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/>
                  <a:t>The CZ protocol 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1400" dirty="0"/>
                  <a:t>In the CZ protocol, single-atom states 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are coupled by Rabi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and Detuning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4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1400" dirty="0"/>
                  <a:t>The states interested here are the computational basis,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400" dirty="0"/>
                  <a:t>, so we should look at their evolutions with gate pulse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The asymmetric states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400" dirty="0"/>
                  <a:t> evolve as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i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</m:oMath>
                </a14:m>
                <a:r>
                  <a:rPr lang="en-US" altLang="zh-CN" sz="1400" dirty="0"/>
                  <a:t> (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? ? ?</a:t>
                </a:r>
                <a:r>
                  <a:rPr lang="en-US" altLang="zh-CN" sz="1400" dirty="0"/>
                  <a:t> ) and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i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altLang="zh-CN" sz="1400" dirty="0"/>
                  <a:t>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The symmetric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US" altLang="zh-CN" sz="1400" dirty="0"/>
                  <a:t> is dark to the gate pulses, so it does not change, i.e. it evolves as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endParaRPr lang="en-US" altLang="zh-CN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The symmetric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zh-CN" sz="1400" dirty="0"/>
                  <a:t> evolve as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d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i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zh-CN" sz="1400" dirty="0"/>
                  <a:t> in the limit of strong blockade B —— in which the transition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rr</m:t>
                        </m:r>
                      </m:e>
                    </m:d>
                  </m:oMath>
                </a14:m>
                <a:r>
                  <a:rPr lang="en-US" altLang="zh-CN" sz="1400" dirty="0"/>
                  <a:t> is suppressed although it also can happen ( Right Figure 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1400" dirty="0"/>
                  <a:t>Because Rydberg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will decay to other stable states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400" dirty="0"/>
                  <a:t>, so there is probability of leakage as the transition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altLang="zh-CN" sz="1400" dirty="0"/>
                  <a:t>.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1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1400" dirty="0"/>
                  <a:t>The middle &amp; right figure shows the population evolutions with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altLang="zh-CN" sz="1400" dirty="0"/>
                  <a:t> &amp;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zh-CN" sz="1400" dirty="0"/>
                  <a:t> as initial states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0EF4C8-8F61-92CF-9E8B-D527F83A8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98" y="2822870"/>
                <a:ext cx="10784996" cy="2401235"/>
              </a:xfrm>
              <a:prstGeom prst="rect">
                <a:avLst/>
              </a:prstGeom>
              <a:blipFill>
                <a:blip r:embed="rId2"/>
                <a:stretch>
                  <a:fillRect l="-339" t="-3046" r="-2487" b="-19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55EEFB86-2A95-837D-A0C5-F629A86C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4" y="758696"/>
            <a:ext cx="3330001" cy="1620000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997F542C-02A1-8B53-BF90-6BFD22C70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000" y="758696"/>
            <a:ext cx="4196888" cy="1800000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6AE0F49-C79A-C1AE-62C4-D844A04B6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2888" y="758696"/>
            <a:ext cx="412887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83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01F6-E57C-6D26-E924-EB30E428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64C064-EF72-D37F-5888-E61BF7C7C797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BF59929-99A5-9D04-A93F-C63F418FDD9B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8639FCE-0325-258C-D47F-493CDA1E6B18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7F15C20-77A3-1EC4-61B3-1B3562944F90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F40E3F1-120F-E554-C2E4-301E8FC60D07}"/>
                  </a:ext>
                </a:extLst>
              </p:cNvPr>
              <p:cNvSpPr txBox="1"/>
              <p:nvPr/>
            </p:nvSpPr>
            <p:spPr>
              <a:xfrm>
                <a:off x="2566297" y="154718"/>
                <a:ext cx="7475332" cy="175432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CZ gate Fidelity</a:t>
                </a:r>
              </a:p>
              <a:p>
                <a:pPr algn="ctr"/>
                <a:r>
                  <a:rPr lang="en-US" altLang="zh-CN" sz="1400" dirty="0"/>
                  <a:t>CZ gate fidelity can be affected by either atomic parameters or pulse parameters. Here we study</a:t>
                </a:r>
              </a:p>
              <a:p>
                <a:pPr algn="ctr"/>
                <a:r>
                  <a:rPr lang="en-US" altLang="zh-CN" sz="1400" dirty="0"/>
                  <a:t>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how the fidelity of the CZ gate affected by the atomic parameters.</a:t>
                </a:r>
              </a:p>
              <a:p>
                <a:pPr algn="ctr"/>
                <a:endParaRPr lang="en-US" altLang="zh-CN" sz="14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altLang="zh-CN" sz="1400" dirty="0"/>
                  <a:t>in this CZ protocol, there are two atomic parameters play an important role : 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which controls the decay rate of Rydberg state 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en-US" altLang="zh-CN" sz="1400" dirty="0"/>
                  <a:t> </a:t>
                </a:r>
              </a:p>
              <a:p>
                <a:pPr marL="285750" indent="-285750" algn="ctr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and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sz="1400" dirty="0"/>
                  <a:t> which controls the energy level of double excited Rydberg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F40E3F1-120F-E554-C2E4-301E8FC60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297" y="154718"/>
                <a:ext cx="7475332" cy="1754326"/>
              </a:xfrm>
              <a:prstGeom prst="rect">
                <a:avLst/>
              </a:prstGeom>
              <a:blipFill>
                <a:blip r:embed="rId2"/>
                <a:stretch>
                  <a:fillRect t="-2405" b="-2611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56D7FC04-8CA2-3995-7D28-A51A04958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38" y="2136119"/>
            <a:ext cx="5142154" cy="32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4F4D7F9-A3C1-5AE4-3135-111124C54B05}"/>
                  </a:ext>
                </a:extLst>
              </p:cNvPr>
              <p:cNvSpPr txBox="1"/>
              <p:nvPr/>
            </p:nvSpPr>
            <p:spPr>
              <a:xfrm>
                <a:off x="6303963" y="5466119"/>
                <a:ext cx="571350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It shows that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the infidelity decreases as B increases</a:t>
                </a:r>
                <a:r>
                  <a:rPr lang="en-US" altLang="zh-CN" sz="1400" dirty="0"/>
                  <a:t>, this is because the transition from the symmetric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lang="en-US" altLang="zh-CN" sz="1400" dirty="0"/>
                  <a:t> to the double excited Rydberg state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rr</m:t>
                        </m:r>
                      </m:e>
                    </m:d>
                  </m:oMath>
                </a14:m>
                <a:r>
                  <a:rPr lang="en-US" altLang="zh-CN" sz="1400" dirty="0"/>
                  <a:t> is suppressed more as B increases</a:t>
                </a:r>
                <a:endParaRPr lang="zh-CN" altLang="en-US" sz="14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4F4D7F9-A3C1-5AE4-3135-111124C54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963" y="5466119"/>
                <a:ext cx="5713504" cy="738664"/>
              </a:xfrm>
              <a:prstGeom prst="rect">
                <a:avLst/>
              </a:prstGeom>
              <a:blipFill>
                <a:blip r:embed="rId4"/>
                <a:stretch>
                  <a:fillRect l="-427" t="-14050" r="-961" b="-66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E8C578A9-D0CC-D61A-E52B-D77314958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4" y="2046119"/>
            <a:ext cx="6016529" cy="34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AFE7453-1A20-813F-2374-07A18BEF066C}"/>
                  </a:ext>
                </a:extLst>
              </p:cNvPr>
              <p:cNvSpPr txBox="1"/>
              <p:nvPr/>
            </p:nvSpPr>
            <p:spPr>
              <a:xfrm>
                <a:off x="344556" y="5466119"/>
                <a:ext cx="57135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It shows that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the infidelity increases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rgbClr val="FF0000"/>
                    </a:solidFill>
                  </a:rPr>
                  <a:t> increases ( or the lifetime of </a:t>
                </a:r>
                <a14:m>
                  <m:oMath xmlns:m="http://schemas.openxmlformats.org/officeDocument/2006/math">
                    <m:r>
                      <a:rPr lang="en-US" altLang="zh-CN" sz="1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en-US" altLang="zh-CN" sz="1400" dirty="0">
                    <a:solidFill>
                      <a:srgbClr val="FF0000"/>
                    </a:solidFill>
                  </a:rPr>
                  <a:t> decreases )</a:t>
                </a:r>
                <a:r>
                  <a:rPr lang="en-US" altLang="zh-CN" sz="1400" dirty="0"/>
                  <a:t>.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is small ( lifetime is long ), the decay from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en-US" altLang="zh-CN" sz="1400" dirty="0"/>
                  <a:t> to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altLang="zh-CN" sz="1400" dirty="0"/>
                  <a:t> is slow hence the leakage is low, leads to low infidelity. However,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is large ( lifetime is short ), the decay from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lang="en-US" altLang="zh-CN" sz="1400" dirty="0"/>
                  <a:t> to </a:t>
                </a:r>
                <a14:m>
                  <m:oMath xmlns:m="http://schemas.openxmlformats.org/officeDocument/2006/math">
                    <m:r>
                      <a:rPr lang="en-US" altLang="zh-CN" sz="1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US" altLang="zh-CN" sz="1400" dirty="0"/>
                  <a:t> is fast hence the leakage can be high, leads to high infidelity.</a:t>
                </a:r>
                <a:endParaRPr lang="zh-CN" altLang="en-US" sz="14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AFE7453-1A20-813F-2374-07A18BEF0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6" y="5466119"/>
                <a:ext cx="5713504" cy="1169551"/>
              </a:xfrm>
              <a:prstGeom prst="rect">
                <a:avLst/>
              </a:prstGeom>
              <a:blipFill>
                <a:blip r:embed="rId6"/>
                <a:stretch>
                  <a:fillRect l="-320" t="-27083" r="-2134"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33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6457-F2A3-A14C-E776-D88FA604A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0C29E5C-820B-AEB2-A621-A51F4C4AB7B5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8D7CD4A-1E64-9A2B-46CD-3D2A42882FCA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9883F54-E274-D652-1489-AE3B08B5F585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2055B0A-FDCC-70BF-568A-E3419050C945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1EE4BD-1076-343C-C909-951739D589A0}"/>
                  </a:ext>
                </a:extLst>
              </p:cNvPr>
              <p:cNvSpPr txBox="1"/>
              <p:nvPr/>
            </p:nvSpPr>
            <p:spPr>
              <a:xfrm>
                <a:off x="1154201" y="3311642"/>
                <a:ext cx="9883598" cy="304436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/>
                  <a:t>CZ gate Optimization Strategy </a:t>
                </a:r>
                <a:endParaRPr lang="en-US" altLang="zh-CN" sz="16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1600" b="1" dirty="0"/>
                  <a:t>Reduce the number of parameters that to be optimized</a:t>
                </a:r>
                <a:r>
                  <a:rPr lang="en-US" altLang="zh-CN" sz="1600" dirty="0"/>
                  <a:t>.</a:t>
                </a:r>
              </a:p>
              <a:p>
                <a:pPr lvl="1"/>
                <a:r>
                  <a:rPr lang="en-US" altLang="zh-CN" sz="1400" dirty="0"/>
                  <a:t>Analysis 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From X-Gate &amp; Z-Gate optimization, the gate time T and the amplitude of the pulse seems to be inversely related, so we can fix the gate time T and only allow amplitude to vary. (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This presumption will be verified later </a:t>
                </a:r>
                <a:r>
                  <a:rPr lang="en-US" altLang="zh-CN" sz="1400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The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τ</m:t>
                        </m:r>
                      </m:num>
                      <m:den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gate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controls the width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pulse,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τ</m:t>
                        </m:r>
                      </m:num>
                      <m:den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gate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is above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en-US" altLang="zh-CN" sz="1400" dirty="0"/>
                  <a:t>, the shape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zh-CN" altLang="en-US" sz="1400" dirty="0"/>
                  <a:t> </a:t>
                </a:r>
                <a:r>
                  <a:rPr lang="en-US" altLang="zh-CN" sz="1400" dirty="0"/>
                  <a:t>pulse does not change much. Here I fix this ratio to be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0.175</m:t>
                    </m:r>
                  </m:oMath>
                </a14:m>
                <a:r>
                  <a:rPr lang="en-US" altLang="zh-CN" sz="1400" dirty="0"/>
                  <a:t>, as the paper suggested.</a:t>
                </a:r>
                <a:endParaRPr lang="zh-CN" altLang="en-US" sz="1400" dirty="0"/>
              </a:p>
              <a:p>
                <a:pPr lvl="1"/>
                <a:endParaRPr lang="en-US" altLang="zh-CN" sz="1600" dirty="0"/>
              </a:p>
              <a:p>
                <a:pPr marL="342900" indent="-342900">
                  <a:buAutoNum type="arabicPeriod"/>
                </a:pPr>
                <a:r>
                  <a:rPr lang="en-US" altLang="zh-CN" sz="1600" b="1" dirty="0"/>
                  <a:t>Use multiple sets of random values as the initial parameters in order to avoid local minimum</a:t>
                </a:r>
                <a:r>
                  <a:rPr lang="en-US" altLang="zh-CN" sz="1600" dirty="0"/>
                  <a:t>.</a:t>
                </a:r>
              </a:p>
              <a:p>
                <a:pPr marL="342900" indent="-342900">
                  <a:buAutoNum type="arabicPeriod"/>
                </a:pPr>
                <a:endParaRPr lang="en-US" altLang="zh-CN" sz="1600" dirty="0"/>
              </a:p>
              <a:p>
                <a:pPr marL="342900" indent="-342900">
                  <a:buAutoNum type="arabicPeriod"/>
                </a:pPr>
                <a:r>
                  <a:rPr lang="en-US" altLang="zh-CN" sz="1600" b="1" dirty="0"/>
                  <a:t>Here we need to be careful about the jump. 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1EE4BD-1076-343C-C909-951739D58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201" y="3311642"/>
                <a:ext cx="9883598" cy="3044360"/>
              </a:xfrm>
              <a:prstGeom prst="rect">
                <a:avLst/>
              </a:prstGeom>
              <a:blipFill>
                <a:blip r:embed="rId2"/>
                <a:stretch>
                  <a:fillRect l="-246" t="-795" r="-123" b="-119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150CF0-874A-22EC-4A54-2829325600FE}"/>
                  </a:ext>
                </a:extLst>
              </p:cNvPr>
              <p:cNvSpPr txBox="1"/>
              <p:nvPr/>
            </p:nvSpPr>
            <p:spPr>
              <a:xfrm>
                <a:off x="2225764" y="155487"/>
                <a:ext cx="7740472" cy="22363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CZ gate Fidelity Optimization </a:t>
                </a:r>
              </a:p>
              <a:p>
                <a:pPr algn="ctr"/>
                <a:r>
                  <a:rPr lang="en-US" altLang="zh-CN" sz="1400" dirty="0"/>
                  <a:t>CZ gate fidelity can be affected by either atomic parameters or pulse parameters. Here we study </a:t>
                </a:r>
              </a:p>
              <a:p>
                <a:pPr algn="ctr"/>
                <a:r>
                  <a:rPr lang="en-US" altLang="zh-CN" sz="1400" dirty="0">
                    <a:solidFill>
                      <a:srgbClr val="FF0000"/>
                    </a:solidFill>
                  </a:rPr>
                  <a:t>how to optimize the pulse parameters to achieve a high fidelity</a:t>
                </a:r>
                <a:r>
                  <a:rPr lang="en-US" altLang="zh-CN" sz="1400" dirty="0"/>
                  <a:t>.</a:t>
                </a:r>
              </a:p>
              <a:p>
                <a:pPr algn="ctr"/>
                <a:endParaRPr lang="en-US" altLang="zh-CN" sz="1400" dirty="0"/>
              </a:p>
              <a:p>
                <a:pPr algn="ctr"/>
                <a:r>
                  <a:rPr lang="en-US" altLang="zh-CN" sz="1600" b="1" dirty="0"/>
                  <a:t>Difficulty</a:t>
                </a:r>
                <a:r>
                  <a:rPr lang="en-US" altLang="zh-CN" sz="1400" dirty="0"/>
                  <a:t> : </a:t>
                </a:r>
              </a:p>
              <a:p>
                <a:pPr algn="ctr"/>
                <a:r>
                  <a:rPr lang="zh-CN" altLang="en-US" sz="1400" dirty="0"/>
                  <a:t>① </a:t>
                </a:r>
                <a:r>
                  <a:rPr lang="en-US" altLang="zh-CN" sz="1400" dirty="0"/>
                  <a:t>in this CZ protocol, there are four pulse parameters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altLang="zh-CN" sz="1400" dirty="0"/>
                  <a:t> ), it should take much computational time to perform the optimization in the four-dimensional parameter-space.</a:t>
                </a:r>
              </a:p>
              <a:p>
                <a:pPr algn="ctr"/>
                <a:r>
                  <a:rPr lang="zh-CN" altLang="en-US" sz="1400" dirty="0"/>
                  <a:t>② </a:t>
                </a:r>
                <a:r>
                  <a:rPr lang="en-US" altLang="zh-CN" sz="1400" dirty="0">
                    <a:solidFill>
                      <a:srgbClr val="00B0F0"/>
                    </a:solidFill>
                  </a:rPr>
                  <a:t>More importantly</a:t>
                </a:r>
                <a:r>
                  <a:rPr lang="en-US" altLang="zh-CN" sz="1400" dirty="0"/>
                  <a:t>, these parameters are not independent, so if I optimize all of them simultaneously, I can get different results for different initials.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150CF0-874A-22EC-4A54-282932560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764" y="155487"/>
                <a:ext cx="7740472" cy="2236318"/>
              </a:xfrm>
              <a:prstGeom prst="rect">
                <a:avLst/>
              </a:prstGeom>
              <a:blipFill>
                <a:blip r:embed="rId3"/>
                <a:stretch>
                  <a:fillRect t="-1897" r="-236" b="-162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931097E-7A27-6F70-92A8-B29F4738C7B1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6096000" y="2391805"/>
            <a:ext cx="0" cy="9198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69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FC42-AECE-9213-4504-CFA47D56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A8A83E9-F623-FAAE-5731-3191A0798BA1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7770CAF-F2CF-0351-4D26-B70532F2179B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545815E-265F-1A61-DA9E-422B2C8ADAF0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2A0F62D-F238-F5E2-A2C8-A6824DD17119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7BC2ECD6-AE2E-D6E6-6F44-D3ECC9BC5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69" y="949144"/>
            <a:ext cx="5040000" cy="3001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A133AA-7956-D468-D4CF-A3C807ED7D73}"/>
                  </a:ext>
                </a:extLst>
              </p:cNvPr>
              <p:cNvSpPr txBox="1"/>
              <p:nvPr/>
            </p:nvSpPr>
            <p:spPr>
              <a:xfrm>
                <a:off x="3396000" y="204595"/>
                <a:ext cx="5400000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For the case : fix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=0.27 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μs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=0.175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4A133AA-7956-D468-D4CF-A3C807ED7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00" y="204595"/>
                <a:ext cx="5400000" cy="395493"/>
              </a:xfrm>
              <a:prstGeom prst="rect">
                <a:avLst/>
              </a:prstGeom>
              <a:blipFill>
                <a:blip r:embed="rId3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51D89D13-9642-D82C-20A9-B862F413A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825" y="717252"/>
            <a:ext cx="5040000" cy="614074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04836DF-CF74-E32B-03CE-778C127C2E2A}"/>
              </a:ext>
            </a:extLst>
          </p:cNvPr>
          <p:cNvSpPr txBox="1"/>
          <p:nvPr/>
        </p:nvSpPr>
        <p:spPr>
          <a:xfrm>
            <a:off x="710825" y="4168019"/>
            <a:ext cx="5940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For this case, I found two curves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one shows a continuous relation between optimal parameters and strength B, the optimal parameters show convergence as B increases.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while another one shows a jump around B = 1100 MHz, and the optimal parameters don’t show a sign of convergence, they fluctuate within a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The green one’s fidelity is above the blue one when B is large</a:t>
            </a:r>
          </a:p>
        </p:txBody>
      </p:sp>
    </p:spTree>
    <p:extLst>
      <p:ext uri="{BB962C8B-B14F-4D97-AF65-F5344CB8AC3E}">
        <p14:creationId xmlns:p14="http://schemas.microsoft.com/office/powerpoint/2010/main" val="155436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6ACB-D0B4-058D-845E-5DF47F94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5D7A4D7-61CB-9078-488B-BB94832A6BFA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92050F6-F14E-49AD-CB51-4F662AEE9DF3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189F594-3259-3824-164D-2D1EB30ACD93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3D84AE6-A691-591E-8F5B-3B509E32E279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9D3190B-FB65-40F7-E360-3001C9F828E6}"/>
                  </a:ext>
                </a:extLst>
              </p:cNvPr>
              <p:cNvSpPr txBox="1"/>
              <p:nvPr/>
            </p:nvSpPr>
            <p:spPr>
              <a:xfrm>
                <a:off x="3396000" y="204595"/>
                <a:ext cx="5400000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For the case : fix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=0.54 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μs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=0.175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9D3190B-FB65-40F7-E360-3001C9F82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00" y="204595"/>
                <a:ext cx="5400000" cy="395493"/>
              </a:xfrm>
              <a:prstGeom prst="rect">
                <a:avLst/>
              </a:prstGeom>
              <a:blipFill>
                <a:blip r:embed="rId2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C6E6100D-B684-D378-47E9-1887972B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851" y="600088"/>
            <a:ext cx="5040000" cy="6134546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5BADA516-ACB0-E22B-5AC6-56C842AF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69" y="947084"/>
            <a:ext cx="5040000" cy="30036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2A96C48-C0CB-B946-C0F3-DAB82481CF32}"/>
              </a:ext>
            </a:extLst>
          </p:cNvPr>
          <p:cNvSpPr txBox="1"/>
          <p:nvPr/>
        </p:nvSpPr>
        <p:spPr>
          <a:xfrm>
            <a:off x="375149" y="4297717"/>
            <a:ext cx="6401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For this case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There are actually at least two branches, another one I didn’t plot but there is one.</a:t>
            </a:r>
          </a:p>
        </p:txBody>
      </p:sp>
    </p:spTree>
    <p:extLst>
      <p:ext uri="{BB962C8B-B14F-4D97-AF65-F5344CB8AC3E}">
        <p14:creationId xmlns:p14="http://schemas.microsoft.com/office/powerpoint/2010/main" val="253068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5247-C6D4-103B-EC37-BE8D4E8C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08C971D-4E2F-EED7-E4B6-3C0062A768F8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0BEC11-3C07-04A9-8AC7-ED4B3C788D8F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C18A70D-37EC-73D7-4826-70604D78BD05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2DB1F04-2721-D6BB-1496-9523E561BA1B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717361F8-F948-E69A-9AF6-1FAC3D287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96" y="790604"/>
            <a:ext cx="4860000" cy="2894378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FF0C01C3-8CFF-46C6-9303-7A9A0F7DC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904" y="790604"/>
            <a:ext cx="4860000" cy="58428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83878FF-A3B2-D1B5-D32B-4FC9AB11A981}"/>
                  </a:ext>
                </a:extLst>
              </p:cNvPr>
              <p:cNvSpPr txBox="1"/>
              <p:nvPr/>
            </p:nvSpPr>
            <p:spPr>
              <a:xfrm>
                <a:off x="3396000" y="204595"/>
                <a:ext cx="5400000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For the case : fix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=1.08 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μs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=0.175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83878FF-A3B2-D1B5-D32B-4FC9AB11A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00" y="204595"/>
                <a:ext cx="5400000" cy="395493"/>
              </a:xfrm>
              <a:prstGeom prst="rect">
                <a:avLst/>
              </a:prstGeom>
              <a:blipFill>
                <a:blip r:embed="rId4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DBFF93B8-79B7-95A0-168A-935E6651053B}"/>
              </a:ext>
            </a:extLst>
          </p:cNvPr>
          <p:cNvSpPr txBox="1"/>
          <p:nvPr/>
        </p:nvSpPr>
        <p:spPr>
          <a:xfrm>
            <a:off x="0" y="4170126"/>
            <a:ext cx="6396904" cy="16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/>
              <a:t>For this case, I found two curves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one shows a continuous relation between optimal parameters and strength B, the optimal parameters show convergence as B increases.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while another one shows a jump around B = 400 MHz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dirty="0"/>
              <a:t>These two curves are nearly the same where B is small and where B is large enough, the optimal parameters also show convergence as B increases but accompanying with small fluctuations.</a:t>
            </a:r>
          </a:p>
        </p:txBody>
      </p:sp>
    </p:spTree>
    <p:extLst>
      <p:ext uri="{BB962C8B-B14F-4D97-AF65-F5344CB8AC3E}">
        <p14:creationId xmlns:p14="http://schemas.microsoft.com/office/powerpoint/2010/main" val="177340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6AC6-DDE3-E5E2-034F-F107C0BD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E1B3FFF-68C1-024F-C8C5-1D6709FBCD75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45A245B-2861-AA0B-8B3C-D44131289647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B034E50-9836-59AE-1AB6-EA6A0586BAC6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BC46ABB-0CA6-CA15-B316-D567B8822FFF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A1A8473-0D15-1219-673B-427B7CFCC8D8}"/>
                  </a:ext>
                </a:extLst>
              </p:cNvPr>
              <p:cNvSpPr txBox="1"/>
              <p:nvPr/>
            </p:nvSpPr>
            <p:spPr>
              <a:xfrm>
                <a:off x="1125793" y="749997"/>
                <a:ext cx="9940413" cy="3605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Based on these three cases, we can find that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The infidelity ( fidelity ) saturates when B is large enough, and as well as the optimal parameters.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Each case has at least two branches ( </a:t>
                </a:r>
                <a:r>
                  <a:rPr lang="en-US" altLang="zh-CN" sz="1400" dirty="0">
                    <a:solidFill>
                      <a:srgbClr val="FF0000"/>
                    </a:solidFill>
                  </a:rPr>
                  <a:t>case 2 I didn’t plot</a:t>
                </a:r>
                <a:r>
                  <a:rPr lang="en-US" altLang="zh-CN" sz="1400" dirty="0"/>
                  <a:t> ) and has a sudden jump at some B, which may not be the local minima. My guess is that the lowest branch corresponds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1400" dirty="0"/>
                  <a:t>, while the second branch corresponds to 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1400" dirty="0"/>
                  <a:t>, if this is true, there would also be branches corresponds to </a:t>
                </a:r>
                <a14:m>
                  <m:oMath xmlns:m="http://schemas.openxmlformats.org/officeDocument/2006/math">
                    <m:r>
                      <a:rPr lang="en-US" altLang="zh-CN" sz="1400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 7</m:t>
                    </m:r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 9</m:t>
                    </m:r>
                    <m:r>
                      <m:rPr>
                        <m:sty m:val="p"/>
                      </m:rPr>
                      <a:rPr lang="en-US" altLang="zh-CN" sz="14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, ⋯</m:t>
                    </m:r>
                  </m:oMath>
                </a14:m>
                <a:r>
                  <a:rPr lang="en-US" altLang="zh-CN" sz="14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However, the optimal parameters in the higher branch don’t converge well compared to that of the lowest branch, but I expect they will finally converge when B is large enough as these parameters have higher energy compared to that of the lowest branch.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400" dirty="0"/>
                  <a:t>In the lowest branch, the optimal parameters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altLang="zh-CN" sz="1400" dirty="0"/>
                  <a:t> ) indeed inversely related to the gate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</m:oMath>
                </a14:m>
                <a:r>
                  <a:rPr lang="en-US" altLang="zh-CN" sz="1400" dirty="0"/>
                  <a:t>, specifically,</a:t>
                </a:r>
              </a:p>
              <a:p>
                <a:pPr lvl="1"/>
                <a:r>
                  <a:rPr lang="en-US" altLang="zh-C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=0.27 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μs</m:t>
                    </m:r>
                  </m:oMath>
                </a14:m>
                <a:r>
                  <a:rPr lang="en-US" altLang="zh-CN" sz="1400" dirty="0"/>
                  <a:t>, the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∼25.0</m:t>
                    </m:r>
                  </m:oMath>
                </a14:m>
                <a:r>
                  <a:rPr lang="en-US" altLang="zh-CN" sz="1400" dirty="0"/>
                  <a:t> MHz and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∼32.5</m:t>
                    </m:r>
                  </m:oMath>
                </a14:m>
                <a:r>
                  <a:rPr lang="en-US" altLang="zh-CN" sz="1400" dirty="0"/>
                  <a:t> MHz</a:t>
                </a:r>
              </a:p>
              <a:p>
                <a:pPr lvl="1"/>
                <a:r>
                  <a:rPr lang="en-US" altLang="zh-C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=0.54 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μs</m:t>
                    </m:r>
                  </m:oMath>
                </a14:m>
                <a:r>
                  <a:rPr lang="en-US" altLang="zh-CN" sz="1400" dirty="0"/>
                  <a:t>, the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∼12.6</m:t>
                    </m:r>
                  </m:oMath>
                </a14:m>
                <a:r>
                  <a:rPr lang="en-US" altLang="zh-CN" sz="1400" dirty="0"/>
                  <a:t> MHz and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∼16.4</m:t>
                    </m:r>
                  </m:oMath>
                </a14:m>
                <a:r>
                  <a:rPr lang="en-US" altLang="zh-CN" sz="1400" dirty="0"/>
                  <a:t> MHz</a:t>
                </a:r>
              </a:p>
              <a:p>
                <a:pPr lvl="1"/>
                <a:r>
                  <a:rPr lang="en-US" altLang="zh-C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gate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=1.08 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μs</m:t>
                    </m:r>
                  </m:oMath>
                </a14:m>
                <a:r>
                  <a:rPr lang="en-US" altLang="zh-CN" sz="1400" dirty="0"/>
                  <a:t>, the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∼  6.3</m:t>
                    </m:r>
                  </m:oMath>
                </a14:m>
                <a:r>
                  <a:rPr lang="en-US" altLang="zh-CN" sz="1400" dirty="0"/>
                  <a:t> MHz and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∼   8.2</m:t>
                    </m:r>
                  </m:oMath>
                </a14:m>
                <a:r>
                  <a:rPr lang="en-US" altLang="zh-CN" sz="1400" dirty="0"/>
                  <a:t> MHz</a:t>
                </a:r>
              </a:p>
              <a:p>
                <a:r>
                  <a:rPr lang="en-US" altLang="zh-CN" sz="1400" dirty="0"/>
                  <a:t>      So it seems that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 </m:t>
                    </m:r>
                    <m:f>
                      <m:fPr>
                        <m:ctrlP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gate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400" dirty="0"/>
                  <a:t> and ( lowest )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altLang="zh-CN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gate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A1A8473-0D15-1219-673B-427B7CFCC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793" y="749997"/>
                <a:ext cx="9940413" cy="3605731"/>
              </a:xfrm>
              <a:prstGeom prst="rect">
                <a:avLst/>
              </a:prstGeom>
              <a:blipFill>
                <a:blip r:embed="rId2"/>
                <a:stretch>
                  <a:fillRect l="-123" t="-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63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B33D-BFAD-54F1-DF68-4C3F083A6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9C32478-CDA8-2494-9DB6-F42878ED7A8B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8C9C8E7-FEC3-6115-09E9-3DCC330E7EDA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6B8D19C-95B6-FDB3-EB2E-867A0059F6B8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D6F3655-5844-FA11-9C94-2509985C3313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FFA214-2FC9-317A-3F40-677E9277C50B}"/>
              </a:ext>
            </a:extLst>
          </p:cNvPr>
          <p:cNvSpPr txBox="1"/>
          <p:nvPr/>
        </p:nvSpPr>
        <p:spPr>
          <a:xfrm>
            <a:off x="2448499" y="106189"/>
            <a:ext cx="7295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CZ Gate Realization with Time Optimal Pulse</a:t>
            </a:r>
          </a:p>
          <a:p>
            <a:pPr algn="ctr"/>
            <a:r>
              <a:rPr lang="en-US" altLang="zh-CN" sz="2800" dirty="0"/>
              <a:t>( Not Finished )</a:t>
            </a:r>
            <a:endParaRPr lang="zh-CN" altLang="en-US" sz="2800" dirty="0"/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75ED4192-059D-C083-014D-5F747826E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98" y="1060296"/>
            <a:ext cx="8310002" cy="21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CAF659-BC62-10CF-D6D5-15F30D35091F}"/>
                  </a:ext>
                </a:extLst>
              </p:cNvPr>
              <p:cNvSpPr txBox="1"/>
              <p:nvPr/>
            </p:nvSpPr>
            <p:spPr>
              <a:xfrm>
                <a:off x="2026771" y="3431198"/>
                <a:ext cx="2497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n-US" altLang="zh-CN" dirty="0"/>
                  <a:t> as initial state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CAF659-BC62-10CF-D6D5-15F30D350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771" y="3431198"/>
                <a:ext cx="2497030" cy="369332"/>
              </a:xfrm>
              <a:prstGeom prst="rect">
                <a:avLst/>
              </a:prstGeom>
              <a:blipFill>
                <a:blip r:embed="rId3"/>
                <a:stretch>
                  <a:fillRect l="-244" t="-121667" b="-18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85BD7156-E18F-5877-0656-CDD4DD4C0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76" y="3800530"/>
            <a:ext cx="4671219" cy="25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605ECB-BE6F-3EEE-BE35-B096024AFEAF}"/>
                  </a:ext>
                </a:extLst>
              </p:cNvPr>
              <p:cNvSpPr txBox="1"/>
              <p:nvPr/>
            </p:nvSpPr>
            <p:spPr>
              <a:xfrm>
                <a:off x="7740934" y="3429000"/>
                <a:ext cx="2407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/>
                  <a:t> as initial state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605ECB-BE6F-3EEE-BE35-B096024AF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934" y="3429000"/>
                <a:ext cx="2407262" cy="369332"/>
              </a:xfrm>
              <a:prstGeom prst="rect">
                <a:avLst/>
              </a:prstGeom>
              <a:blipFill>
                <a:blip r:embed="rId5"/>
                <a:stretch>
                  <a:fillRect l="-2278" t="-121667" r="-1772" b="-18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 descr="图表, 折线图, 直方图&#10;&#10;AI 生成的内容可能不正确。">
            <a:extLst>
              <a:ext uri="{FF2B5EF4-FFF2-40B4-BE49-F238E27FC236}">
                <a16:creationId xmlns:a16="http://schemas.microsoft.com/office/drawing/2014/main" id="{969FB719-AF47-967B-A36B-9F8FF1C398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956" y="3800530"/>
            <a:ext cx="4671219" cy="25200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ED9FB2F-3557-3861-BA83-6394088181C6}"/>
              </a:ext>
            </a:extLst>
          </p:cNvPr>
          <p:cNvSpPr txBox="1"/>
          <p:nvPr/>
        </p:nvSpPr>
        <p:spPr>
          <a:xfrm>
            <a:off x="1265266" y="6382479"/>
            <a:ext cx="9661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Successfully reproduce the Fig3 in the paper, so the next step is to perform optimization of the pulse.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6242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67E75-BBB0-F200-428B-4DF3EB0E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6891D75-7A57-AE62-08D9-089037F41B5C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01A596A-F403-7D72-AFD7-D1C47271A405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617C931-1A6D-4482-F778-36EA8801259F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20D1259-7925-6032-4DE4-151BC1FEE0D4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89D5F9-DBF8-0CD4-2E6E-80DD6C0C3598}"/>
              </a:ext>
            </a:extLst>
          </p:cNvPr>
          <p:cNvSpPr txBox="1"/>
          <p:nvPr/>
        </p:nvSpPr>
        <p:spPr>
          <a:xfrm>
            <a:off x="4272726" y="2921168"/>
            <a:ext cx="3646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Stim</a:t>
            </a:r>
          </a:p>
          <a:p>
            <a:r>
              <a:rPr lang="en-US" altLang="zh-CN" sz="2000" dirty="0"/>
              <a:t>5310 : Thursday at 13:00 pm</a:t>
            </a:r>
          </a:p>
          <a:p>
            <a:r>
              <a:rPr lang="en-US" altLang="zh-CN" sz="2000" dirty="0"/>
              <a:t>5310 :   Tuesday at 12:30 pm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24742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41B70-F059-0373-91F9-C752E8B0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D7D137E-CF8A-D12F-139D-A9D12B46EF4A}"/>
              </a:ext>
            </a:extLst>
          </p:cNvPr>
          <p:cNvSpPr/>
          <p:nvPr/>
        </p:nvSpPr>
        <p:spPr>
          <a:xfrm>
            <a:off x="-69005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8001FAC-28A2-9091-F21E-A07CFF33B7BD}"/>
              </a:ext>
            </a:extLst>
          </p:cNvPr>
          <p:cNvSpPr/>
          <p:nvPr/>
        </p:nvSpPr>
        <p:spPr>
          <a:xfrm>
            <a:off x="18728100" y="-46101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E38620B-A42C-FC10-4AFB-00ED856DCE58}"/>
              </a:ext>
            </a:extLst>
          </p:cNvPr>
          <p:cNvSpPr/>
          <p:nvPr/>
        </p:nvSpPr>
        <p:spPr>
          <a:xfrm>
            <a:off x="-69005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83B65C8-A332-6265-B7C6-ED1014E88321}"/>
              </a:ext>
            </a:extLst>
          </p:cNvPr>
          <p:cNvSpPr/>
          <p:nvPr/>
        </p:nvSpPr>
        <p:spPr>
          <a:xfrm>
            <a:off x="18728100" y="11400200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28256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2164</Words>
  <Application>Microsoft Office PowerPoint</Application>
  <PresentationFormat>宽屏</PresentationFormat>
  <Paragraphs>105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方史杰</dc:creator>
  <cp:lastModifiedBy>Fang Shijie</cp:lastModifiedBy>
  <cp:revision>46</cp:revision>
  <dcterms:created xsi:type="dcterms:W3CDTF">2023-08-09T12:44:00Z</dcterms:created>
  <dcterms:modified xsi:type="dcterms:W3CDTF">2026-01-14T23:21:52Z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